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5" r:id="rId7"/>
    <p:sldId id="260" r:id="rId8"/>
    <p:sldId id="266" r:id="rId9"/>
    <p:sldId id="268" r:id="rId10"/>
    <p:sldId id="261" r:id="rId11"/>
    <p:sldId id="262" r:id="rId12"/>
    <p:sldId id="263" r:id="rId13"/>
    <p:sldId id="264" r:id="rId14"/>
    <p:sldId id="269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937D-E6D4-2824-FA18-8A02FD3FC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20FF2F-0F2E-EEEE-3ED8-22EC4E7D0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5FE11-9B9D-50C3-EE09-576E651D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CC51B-AB94-B567-A014-7BDAF795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2D834-0FDD-F731-CA91-D695B625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15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F59B-1047-D12E-5DA0-0AC8F11D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ED25F-ED11-FF6D-945B-A167A86C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66DB8-15CD-3AFA-744B-6F94976B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141286-7415-FEDD-93DF-CECEE050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0DFC70-AA19-3142-9476-520A10E3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86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5BFAD-65D5-CF40-94A8-220F2F6D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85968E-1131-1FAB-3434-70BEC7547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AE92D9-3166-441E-9AF4-82B75F09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AC06D2-46A4-3D42-16AE-2F196FAA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ABDF4-FF83-5841-C7CB-0FACD877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0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0179F-0E8C-869A-6B6A-389619D7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A1B35-9A42-D00D-F9FC-EED845A76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0EFFAF-4DAE-59B7-A0FB-95D853E43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24A8CF-47AE-BBE1-D9FF-FC5456F7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8CEDBF-DBA1-4E00-0603-77BED0F1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95763-CB68-2D11-1A2F-AD27A3E2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36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01CF8-2033-4AE7-4E1C-EDF3E0F6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00BCA0-D516-DC53-1346-9B475A03E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4BC7F1-51CD-BB86-C376-908F5A885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0DF861-40FB-F47B-AE45-7FC739527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2FFA52-9F05-3812-5F5B-D81A97E9D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415D0A-E11D-27F4-87BA-A38E19BC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0FF7D2-330C-F10E-B9EC-B1B6EF0B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2C7FE3-2A42-16A1-40AA-971E3873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0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36466-2E27-2DE0-034C-2422C9EE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F5D321-5E7B-883A-55CD-CC709593A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D5C703-7210-CEFE-542D-DB85866C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4DD0D-E118-9FF1-7714-05B0E7A8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92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008A8D-4869-274C-1601-3A674ED6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05B698-2E88-3FC4-8311-4AE7415F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72086-7762-AFF4-69F7-EEEABDF8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6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B0BD0-BF24-6517-D05D-A3EA3E03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4379B-42DB-C169-5729-AE2AA12E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0F3068-E7D9-3D52-60A6-1CFF6C60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9EC9CB-8474-3367-C6D8-4D88A69D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7324F-E2F0-8393-B15D-743AC1C4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4C2446-F428-1AE5-5AE6-CED2001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4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94478-5674-2189-F2BF-05B10985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5D264B-F56D-059C-F5F9-8FDA80685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8D1174-DBDE-20F7-CD5B-A838B1B6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69AE98-BD1B-19EE-0D27-575355CB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37FC8-346F-EFD5-8D5E-60575980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913B8-7673-1D21-BAB6-991F0603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2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105A8-C898-3AF1-7AEC-1C4413D0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C3D4-485A-DD87-A137-E1A42DA57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B974F-26B5-CCEE-3100-79E202DC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A7BF2-DDB6-7088-D617-72DB8832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447A3-E142-43DA-602A-438AB0E7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82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E11B07-6CAE-8FB8-1DED-29931A31A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9FBED2-DB44-83B6-B906-71430C85C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D8DC8-FB24-1C2B-96AB-E3863ABF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F65B8-CC36-D725-1837-F72E393C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27A1E-C656-1F5A-2A5A-8B0142E5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BDF361-79CA-F20A-6D2D-0195A446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88928F-3CC7-478B-DCEE-A0C178F3E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CFFAE-746E-F6A5-CF92-6EF8B4FFE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E88CB-7F39-460D-AAE4-19FB2D1906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11678-D9C8-E9C1-171B-9432F6DA5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EF8CFC-79D7-5516-54D2-563919D93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6C5FD-114B-4834-9711-2E4204F2C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12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42CD8-7BB6-1EB3-41D4-28BB57EEE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236" y="1912072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环境与抗</a:t>
            </a:r>
            <a:r>
              <a:rPr lang="en-US" altLang="zh-CN" dirty="0"/>
              <a:t>NMDA</a:t>
            </a:r>
            <a:r>
              <a:rPr lang="zh-CN" altLang="en-US" dirty="0"/>
              <a:t>受体脑炎发病的相关性</a:t>
            </a:r>
          </a:p>
        </p:txBody>
      </p:sp>
    </p:spTree>
    <p:extLst>
      <p:ext uri="{BB962C8B-B14F-4D97-AF65-F5344CB8AC3E}">
        <p14:creationId xmlns:p14="http://schemas.microsoft.com/office/powerpoint/2010/main" val="147577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2D9D2-D14D-2062-BBA3-EE90DE23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6" y="323563"/>
            <a:ext cx="10515600" cy="2671761"/>
          </a:xfrm>
        </p:spPr>
        <p:txBody>
          <a:bodyPr/>
          <a:lstStyle/>
          <a:p>
            <a:r>
              <a:rPr lang="en-US" altLang="zh-CN" dirty="0"/>
              <a:t>PART1</a:t>
            </a:r>
            <a:br>
              <a:rPr lang="en-US" altLang="zh-CN" dirty="0"/>
            </a:br>
            <a:r>
              <a:rPr lang="zh-CN" altLang="en-US" dirty="0"/>
              <a:t>空气污染物水平与抗</a:t>
            </a:r>
            <a:r>
              <a:rPr lang="en-US" altLang="zh-CN" dirty="0"/>
              <a:t>NMDA</a:t>
            </a:r>
            <a:r>
              <a:rPr lang="zh-CN" altLang="en-US" dirty="0"/>
              <a:t>受体脑炎发病的关系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5E588-F404-CCDB-4A78-92E95EA5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6" y="3200401"/>
            <a:ext cx="10515600" cy="2671761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sz="4400" dirty="0">
                <a:latin typeface="+mj-lt"/>
                <a:ea typeface="+mj-ea"/>
                <a:cs typeface="+mj-cs"/>
              </a:rPr>
              <a:t>PART2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4400" dirty="0">
                <a:latin typeface="+mj-lt"/>
                <a:ea typeface="+mj-ea"/>
                <a:cs typeface="+mj-cs"/>
              </a:rPr>
              <a:t>地理环境因素与抗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NMDA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受体脑炎发病的关系</a:t>
            </a:r>
          </a:p>
        </p:txBody>
      </p:sp>
    </p:spTree>
    <p:extLst>
      <p:ext uri="{BB962C8B-B14F-4D97-AF65-F5344CB8AC3E}">
        <p14:creationId xmlns:p14="http://schemas.microsoft.com/office/powerpoint/2010/main" val="262235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7615B-6415-1296-6E47-7B577859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212725"/>
            <a:ext cx="11623964" cy="1325563"/>
          </a:xfrm>
        </p:spPr>
        <p:txBody>
          <a:bodyPr>
            <a:normAutofit/>
          </a:bodyPr>
          <a:lstStyle/>
          <a:p>
            <a:r>
              <a:rPr lang="zh-CN" altLang="en-US" sz="3600" b="1" u="sng" dirty="0"/>
              <a:t>抗</a:t>
            </a:r>
            <a:r>
              <a:rPr lang="en-US" altLang="zh-CN" sz="3600" b="1" u="sng" dirty="0"/>
              <a:t>NMDA</a:t>
            </a:r>
            <a:r>
              <a:rPr lang="zh-CN" altLang="en-US" sz="3600" b="1" u="sng" dirty="0"/>
              <a:t>受体脑炎发病与空气污染物的相关性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4A9E2-EB63-85E9-8CFE-B76A5949B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抗</a:t>
            </a:r>
            <a:r>
              <a:rPr lang="en-US" altLang="zh-CN" dirty="0"/>
              <a:t>NMDAR</a:t>
            </a:r>
            <a:r>
              <a:rPr lang="zh-CN" altLang="en-US" dirty="0"/>
              <a:t>受体脑炎的发病是否与患者暴露于环境污染物相关？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患者发病与暴露时长是否有关？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高污染物浓度的暴露是否影响患者发病的严重程度？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各年龄段</a:t>
            </a:r>
            <a:r>
              <a:rPr lang="en-US" altLang="zh-CN" dirty="0"/>
              <a:t>/</a:t>
            </a:r>
            <a:r>
              <a:rPr lang="zh-CN" altLang="en-US" dirty="0"/>
              <a:t>不同性别对于某种污染物的暴露是否更敏感？污染物的暴露与患者合并肿瘤是否相关？</a:t>
            </a:r>
          </a:p>
        </p:txBody>
      </p:sp>
    </p:spTree>
    <p:extLst>
      <p:ext uri="{BB962C8B-B14F-4D97-AF65-F5344CB8AC3E}">
        <p14:creationId xmlns:p14="http://schemas.microsoft.com/office/powerpoint/2010/main" val="82150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BE3B6-620C-C0BA-919D-6C9EA4B61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001"/>
            <a:ext cx="6373091" cy="311726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/>
              <a:t>1.</a:t>
            </a:r>
            <a:r>
              <a:rPr lang="zh-CN" altLang="zh-CN" sz="3200" b="1" dirty="0"/>
              <a:t>概括性描述</a:t>
            </a:r>
            <a:b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8ED163F-AB21-472E-77BF-766614490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765208"/>
              </p:ext>
            </p:extLst>
          </p:nvPr>
        </p:nvGraphicFramePr>
        <p:xfrm>
          <a:off x="0" y="459155"/>
          <a:ext cx="12053455" cy="62762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7128">
                  <a:extLst>
                    <a:ext uri="{9D8B030D-6E8A-4147-A177-3AD203B41FA5}">
                      <a16:colId xmlns:a16="http://schemas.microsoft.com/office/drawing/2014/main" val="2734878109"/>
                    </a:ext>
                  </a:extLst>
                </a:gridCol>
                <a:gridCol w="1820872">
                  <a:extLst>
                    <a:ext uri="{9D8B030D-6E8A-4147-A177-3AD203B41FA5}">
                      <a16:colId xmlns:a16="http://schemas.microsoft.com/office/drawing/2014/main" val="123430638"/>
                    </a:ext>
                  </a:extLst>
                </a:gridCol>
                <a:gridCol w="976116">
                  <a:extLst>
                    <a:ext uri="{9D8B030D-6E8A-4147-A177-3AD203B41FA5}">
                      <a16:colId xmlns:a16="http://schemas.microsoft.com/office/drawing/2014/main" val="1119486414"/>
                    </a:ext>
                  </a:extLst>
                </a:gridCol>
                <a:gridCol w="1157421">
                  <a:extLst>
                    <a:ext uri="{9D8B030D-6E8A-4147-A177-3AD203B41FA5}">
                      <a16:colId xmlns:a16="http://schemas.microsoft.com/office/drawing/2014/main" val="468661350"/>
                    </a:ext>
                  </a:extLst>
                </a:gridCol>
                <a:gridCol w="1054316">
                  <a:extLst>
                    <a:ext uri="{9D8B030D-6E8A-4147-A177-3AD203B41FA5}">
                      <a16:colId xmlns:a16="http://schemas.microsoft.com/office/drawing/2014/main" val="1968048208"/>
                    </a:ext>
                  </a:extLst>
                </a:gridCol>
                <a:gridCol w="857674">
                  <a:extLst>
                    <a:ext uri="{9D8B030D-6E8A-4147-A177-3AD203B41FA5}">
                      <a16:colId xmlns:a16="http://schemas.microsoft.com/office/drawing/2014/main" val="82830172"/>
                    </a:ext>
                  </a:extLst>
                </a:gridCol>
                <a:gridCol w="1236432">
                  <a:extLst>
                    <a:ext uri="{9D8B030D-6E8A-4147-A177-3AD203B41FA5}">
                      <a16:colId xmlns:a16="http://schemas.microsoft.com/office/drawing/2014/main" val="2525367382"/>
                    </a:ext>
                  </a:extLst>
                </a:gridCol>
                <a:gridCol w="965727">
                  <a:extLst>
                    <a:ext uri="{9D8B030D-6E8A-4147-A177-3AD203B41FA5}">
                      <a16:colId xmlns:a16="http://schemas.microsoft.com/office/drawing/2014/main" val="1507794529"/>
                    </a:ext>
                  </a:extLst>
                </a:gridCol>
                <a:gridCol w="965727">
                  <a:extLst>
                    <a:ext uri="{9D8B030D-6E8A-4147-A177-3AD203B41FA5}">
                      <a16:colId xmlns:a16="http://schemas.microsoft.com/office/drawing/2014/main" val="812803714"/>
                    </a:ext>
                  </a:extLst>
                </a:gridCol>
                <a:gridCol w="896021">
                  <a:extLst>
                    <a:ext uri="{9D8B030D-6E8A-4147-A177-3AD203B41FA5}">
                      <a16:colId xmlns:a16="http://schemas.microsoft.com/office/drawing/2014/main" val="501465022"/>
                    </a:ext>
                  </a:extLst>
                </a:gridCol>
                <a:gridCol w="896021">
                  <a:extLst>
                    <a:ext uri="{9D8B030D-6E8A-4147-A177-3AD203B41FA5}">
                      <a16:colId xmlns:a16="http://schemas.microsoft.com/office/drawing/2014/main" val="2159627847"/>
                    </a:ext>
                  </a:extLst>
                </a:gridCol>
              </a:tblGrid>
              <a:tr h="54748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项目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分组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number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mean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min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P10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P25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P50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P75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P90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max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767468341"/>
                  </a:ext>
                </a:extLst>
              </a:tr>
              <a:tr h="273741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性别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男性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113 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216684582"/>
                  </a:ext>
                </a:extLst>
              </a:tr>
              <a:tr h="2737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女性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149 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948576251"/>
                  </a:ext>
                </a:extLst>
              </a:tr>
              <a:tr h="273741">
                <a:tc rowSpan="3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年龄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&lt;18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81 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782664215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18-39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137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992116113"/>
                  </a:ext>
                </a:extLst>
              </a:tr>
              <a:tr h="2737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&gt;=40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44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772038020"/>
                  </a:ext>
                </a:extLst>
              </a:tr>
              <a:tr h="273741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季节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热</a:t>
                      </a:r>
                      <a:r>
                        <a:rPr lang="zh-CN" altLang="en-US" sz="1800" kern="100" dirty="0">
                          <a:effectLst/>
                        </a:rPr>
                        <a:t>（雨）</a:t>
                      </a:r>
                      <a:r>
                        <a:rPr lang="zh-CN" sz="1800" kern="100" dirty="0">
                          <a:effectLst/>
                        </a:rPr>
                        <a:t>季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800742106"/>
                  </a:ext>
                </a:extLst>
              </a:tr>
              <a:tr h="2737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冷</a:t>
                      </a:r>
                      <a:r>
                        <a:rPr lang="zh-CN" altLang="en-US" sz="1800" kern="100" dirty="0">
                          <a:effectLst/>
                        </a:rPr>
                        <a:t>（旱）</a:t>
                      </a:r>
                      <a:r>
                        <a:rPr lang="zh-CN" sz="1800" kern="100" dirty="0">
                          <a:effectLst/>
                        </a:rPr>
                        <a:t>季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143326402"/>
                  </a:ext>
                </a:extLst>
              </a:tr>
              <a:tr h="273741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吸烟史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23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115031477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239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262030136"/>
                  </a:ext>
                </a:extLst>
              </a:tr>
              <a:tr h="273741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前驱症状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146 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246278920"/>
                  </a:ext>
                </a:extLst>
              </a:tr>
              <a:tr h="3855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00" dirty="0">
                          <a:effectLst/>
                        </a:rPr>
                        <a:t>116</a:t>
                      </a:r>
                      <a:endParaRPr lang="zh-CN" altLang="zh-CN" sz="18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551761063"/>
                  </a:ext>
                </a:extLst>
              </a:tr>
              <a:tr h="273741">
                <a:tc rowSpan="5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症状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癫痫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637422364"/>
                  </a:ext>
                </a:extLst>
              </a:tr>
              <a:tr h="5474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精神症状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968400508"/>
                  </a:ext>
                </a:extLst>
              </a:tr>
              <a:tr h="5474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语言障碍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507478634"/>
                  </a:ext>
                </a:extLst>
              </a:tr>
              <a:tr h="5474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记忆力下降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945759103"/>
                  </a:ext>
                </a:extLst>
              </a:tr>
              <a:tr h="2737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其他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62946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46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EFEAA-D9D9-1DD3-FBEE-8CDABECA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4DB4DFC-5ADE-F78C-0FC1-869D4FDC54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952027"/>
              </p:ext>
            </p:extLst>
          </p:nvPr>
        </p:nvGraphicFramePr>
        <p:xfrm>
          <a:off x="72736" y="93925"/>
          <a:ext cx="12046527" cy="66701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3673">
                  <a:extLst>
                    <a:ext uri="{9D8B030D-6E8A-4147-A177-3AD203B41FA5}">
                      <a16:colId xmlns:a16="http://schemas.microsoft.com/office/drawing/2014/main" val="1943520746"/>
                    </a:ext>
                  </a:extLst>
                </a:gridCol>
                <a:gridCol w="1640439">
                  <a:extLst>
                    <a:ext uri="{9D8B030D-6E8A-4147-A177-3AD203B41FA5}">
                      <a16:colId xmlns:a16="http://schemas.microsoft.com/office/drawing/2014/main" val="2183971719"/>
                    </a:ext>
                  </a:extLst>
                </a:gridCol>
                <a:gridCol w="998851">
                  <a:extLst>
                    <a:ext uri="{9D8B030D-6E8A-4147-A177-3AD203B41FA5}">
                      <a16:colId xmlns:a16="http://schemas.microsoft.com/office/drawing/2014/main" val="3987525364"/>
                    </a:ext>
                  </a:extLst>
                </a:gridCol>
                <a:gridCol w="1555595">
                  <a:extLst>
                    <a:ext uri="{9D8B030D-6E8A-4147-A177-3AD203B41FA5}">
                      <a16:colId xmlns:a16="http://schemas.microsoft.com/office/drawing/2014/main" val="944925939"/>
                    </a:ext>
                  </a:extLst>
                </a:gridCol>
                <a:gridCol w="1053711">
                  <a:extLst>
                    <a:ext uri="{9D8B030D-6E8A-4147-A177-3AD203B41FA5}">
                      <a16:colId xmlns:a16="http://schemas.microsoft.com/office/drawing/2014/main" val="2062612742"/>
                    </a:ext>
                  </a:extLst>
                </a:gridCol>
                <a:gridCol w="1046451">
                  <a:extLst>
                    <a:ext uri="{9D8B030D-6E8A-4147-A177-3AD203B41FA5}">
                      <a16:colId xmlns:a16="http://schemas.microsoft.com/office/drawing/2014/main" val="2221874022"/>
                    </a:ext>
                  </a:extLst>
                </a:gridCol>
                <a:gridCol w="1046451">
                  <a:extLst>
                    <a:ext uri="{9D8B030D-6E8A-4147-A177-3AD203B41FA5}">
                      <a16:colId xmlns:a16="http://schemas.microsoft.com/office/drawing/2014/main" val="143965951"/>
                    </a:ext>
                  </a:extLst>
                </a:gridCol>
                <a:gridCol w="965172">
                  <a:extLst>
                    <a:ext uri="{9D8B030D-6E8A-4147-A177-3AD203B41FA5}">
                      <a16:colId xmlns:a16="http://schemas.microsoft.com/office/drawing/2014/main" val="3310251879"/>
                    </a:ext>
                  </a:extLst>
                </a:gridCol>
                <a:gridCol w="965172">
                  <a:extLst>
                    <a:ext uri="{9D8B030D-6E8A-4147-A177-3AD203B41FA5}">
                      <a16:colId xmlns:a16="http://schemas.microsoft.com/office/drawing/2014/main" val="3238121138"/>
                    </a:ext>
                  </a:extLst>
                </a:gridCol>
                <a:gridCol w="895506">
                  <a:extLst>
                    <a:ext uri="{9D8B030D-6E8A-4147-A177-3AD203B41FA5}">
                      <a16:colId xmlns:a16="http://schemas.microsoft.com/office/drawing/2014/main" val="1507509754"/>
                    </a:ext>
                  </a:extLst>
                </a:gridCol>
                <a:gridCol w="895506">
                  <a:extLst>
                    <a:ext uri="{9D8B030D-6E8A-4147-A177-3AD203B41FA5}">
                      <a16:colId xmlns:a16="http://schemas.microsoft.com/office/drawing/2014/main" val="3617083706"/>
                    </a:ext>
                  </a:extLst>
                </a:gridCol>
              </a:tblGrid>
              <a:tr h="52276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项目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分组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number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mean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min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P10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P25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P50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P75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P90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max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910948830"/>
                  </a:ext>
                </a:extLst>
              </a:tr>
              <a:tr h="496623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严重程度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altLang="en-US" sz="1600" kern="100" dirty="0">
                          <a:effectLst/>
                        </a:rPr>
                        <a:t>转入</a:t>
                      </a:r>
                      <a:r>
                        <a:rPr lang="en-US" sz="1600" kern="100" dirty="0">
                          <a:effectLst/>
                        </a:rPr>
                        <a:t>ICU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539486598"/>
                  </a:ext>
                </a:extLst>
              </a:tr>
              <a:tr h="2660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mRS</a:t>
                      </a:r>
                      <a:r>
                        <a:rPr lang="zh-CN" sz="1600" kern="100" dirty="0">
                          <a:effectLst/>
                        </a:rPr>
                        <a:t>评分</a:t>
                      </a:r>
                    </a:p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44197249"/>
                  </a:ext>
                </a:extLst>
              </a:tr>
              <a:tr h="261382">
                <a:tc rowSpan="7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污染物水平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PM10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747530042"/>
                  </a:ext>
                </a:extLst>
              </a:tr>
              <a:tr h="303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PM2.5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418564803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SO2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7328639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NO2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374358801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O3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64340022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CO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91447765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200" kern="100" dirty="0">
                          <a:effectLst/>
                        </a:rPr>
                        <a:t>AQI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050156849"/>
                  </a:ext>
                </a:extLst>
              </a:tr>
              <a:tr h="303356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>
                          <a:effectLst/>
                        </a:rPr>
                        <a:t>抗体滴度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600" kern="100">
                          <a:effectLst/>
                        </a:rPr>
                        <a:t>脑脊液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765293244"/>
                  </a:ext>
                </a:extLst>
              </a:tr>
              <a:tr h="303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600" kern="100">
                          <a:effectLst/>
                        </a:rPr>
                        <a:t>血清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751524269"/>
                  </a:ext>
                </a:extLst>
              </a:tr>
              <a:tr h="606715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合并肿瘤 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合并肿瘤病史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38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193536919"/>
                  </a:ext>
                </a:extLst>
              </a:tr>
              <a:tr h="261382">
                <a:tc rowSpan="7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合并抗体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MOG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1253002647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AQP4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711842218"/>
                  </a:ext>
                </a:extLst>
              </a:tr>
              <a:tr h="328583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GFAP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098467661"/>
                  </a:ext>
                </a:extLst>
              </a:tr>
              <a:tr h="272254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GABA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615723248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mGLUR5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3765667334"/>
                  </a:ext>
                </a:extLst>
              </a:tr>
              <a:tr h="261382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caspr2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66840837"/>
                  </a:ext>
                </a:extLst>
              </a:tr>
              <a:tr h="248501">
                <a:tc vMerge="1"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others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31" marR="26231" marT="0" marB="0"/>
                </a:tc>
                <a:extLst>
                  <a:ext uri="{0D108BD9-81ED-4DB2-BD59-A6C34878D82A}">
                    <a16:rowId xmlns:a16="http://schemas.microsoft.com/office/drawing/2014/main" val="2833240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91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4B447-0920-F777-35B8-0BA847A3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7CC177-8820-361B-4990-8C9FC1475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694218" cy="6451983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2176A31-C064-7C2C-F875-914AFAC60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476" y="268143"/>
            <a:ext cx="6329409" cy="473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0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4EF67-A415-E340-1CF4-03CE07B6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-233826"/>
            <a:ext cx="11540837" cy="1325563"/>
          </a:xfrm>
        </p:spPr>
        <p:txBody>
          <a:bodyPr>
            <a:normAutofit/>
          </a:bodyPr>
          <a:lstStyle/>
          <a:p>
            <a:b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600" b="1" dirty="0"/>
              <a:t>2.</a:t>
            </a:r>
            <a:r>
              <a:rPr lang="zh-CN" altLang="zh-CN" sz="3600" b="1" dirty="0"/>
              <a:t>抗</a:t>
            </a:r>
            <a:r>
              <a:rPr lang="en-US" altLang="zh-CN" sz="3600" b="1" dirty="0"/>
              <a:t>NMDA</a:t>
            </a:r>
            <a:r>
              <a:rPr lang="zh-CN" altLang="zh-CN" sz="3600" b="1" dirty="0"/>
              <a:t>受体脑炎发病与环境污染物的相关性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9542D-37A2-10C7-50C3-71D7CCE73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033840"/>
            <a:ext cx="4176280" cy="3033421"/>
          </a:xfrm>
        </p:spPr>
        <p:txBody>
          <a:bodyPr/>
          <a:lstStyle/>
          <a:p>
            <a:pPr marL="0" lvl="0" indent="0" algn="just">
              <a:buNone/>
            </a:pP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：污染物水平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85800" algn="just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y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</a:p>
          <a:p>
            <a:pPr marL="685800" algn="just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z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lag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月份数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(z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：发病当月及向前推算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个月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-1.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发病当月、发病前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1/2/3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个月的污染物水平与发病的关系</a:t>
            </a:r>
            <a:endParaRPr lang="en-US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-2.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发病前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个月污染物水平的累积效应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6E1920-A4A0-FFE7-27C3-798292F62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4147910"/>
            <a:ext cx="9589692" cy="2578110"/>
          </a:xfrm>
          <a:prstGeom prst="rect">
            <a:avLst/>
          </a:prstGeo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3296A8DA-08F2-88D8-0EBA-67599DC15B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20" y="784731"/>
            <a:ext cx="7901980" cy="34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0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96F69-06D2-CA47-990F-017C4DFA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C60745-92A6-9304-C521-F104EF09E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95" y="365125"/>
            <a:ext cx="6996824" cy="4973858"/>
          </a:xfrm>
          <a:prstGeom prst="rect">
            <a:avLst/>
          </a:prstGeom>
        </p:spPr>
      </p:pic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D89F67CE-5487-C2AE-213F-132DDABC2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165" y="-1"/>
            <a:ext cx="3844636" cy="69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6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1B612-9964-4D68-BB3B-45C611A9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077E029-610A-7A31-D8E0-29F5958B4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27" y="202326"/>
            <a:ext cx="10383391" cy="2686345"/>
          </a:xfrm>
        </p:spPr>
      </p:pic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12EE6697-11C7-0BA6-ADEB-50330BA7D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1353"/>
            <a:ext cx="12081719" cy="230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09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AEE4C-2567-CD50-0C58-CDB02AEE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4" y="122670"/>
            <a:ext cx="11914909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2.</a:t>
            </a:r>
            <a:r>
              <a:rPr lang="zh-CN" altLang="zh-CN" sz="3200" b="1" dirty="0"/>
              <a:t>抗</a:t>
            </a:r>
            <a:r>
              <a:rPr lang="en-US" altLang="zh-CN" sz="3200" b="1" dirty="0"/>
              <a:t>NMDA</a:t>
            </a:r>
            <a:r>
              <a:rPr lang="zh-CN" altLang="zh-CN" sz="3200" b="1" dirty="0"/>
              <a:t>受体脑炎发病与环境污染物的相关性</a:t>
            </a:r>
            <a:endParaRPr lang="zh-CN" altLang="en-US" sz="32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C5852-DDE4-7CCA-189B-2DA304784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08" y="1576243"/>
            <a:ext cx="11914909" cy="4351338"/>
          </a:xfrm>
        </p:spPr>
        <p:txBody>
          <a:bodyPr/>
          <a:lstStyle/>
          <a:p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污染物水平与脑脊液</a:t>
            </a:r>
            <a:r>
              <a:rPr lang="en-US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血清</a:t>
            </a:r>
            <a:r>
              <a:rPr lang="en-US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NMDA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抗体滴度相关性</a:t>
            </a:r>
            <a:r>
              <a:rPr lang="zh-CN" altLang="en-US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按滴度比值分析</a:t>
            </a:r>
            <a:endParaRPr lang="en-US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按高、低滴度分析</a:t>
            </a:r>
            <a:endParaRPr lang="en-US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/>
              <a:t>自变量：污染物水平</a:t>
            </a:r>
            <a:endParaRPr lang="en-US" altLang="zh-CN" sz="2400" dirty="0"/>
          </a:p>
          <a:p>
            <a:r>
              <a:rPr lang="zh-CN" altLang="en-US" sz="2400" dirty="0"/>
              <a:t>因变量：脑脊液</a:t>
            </a:r>
            <a:r>
              <a:rPr lang="en-US" altLang="zh-CN" sz="2400" dirty="0"/>
              <a:t>/</a:t>
            </a:r>
            <a:r>
              <a:rPr lang="zh-CN" altLang="en-US" sz="2400" dirty="0"/>
              <a:t>血清</a:t>
            </a:r>
            <a:r>
              <a:rPr lang="en-US" altLang="zh-CN" sz="2400" dirty="0"/>
              <a:t>NMDAR</a:t>
            </a:r>
            <a:r>
              <a:rPr lang="zh-CN" altLang="en-US" sz="2400" dirty="0"/>
              <a:t>抗体滴度值</a:t>
            </a:r>
            <a:endParaRPr lang="en-US" altLang="zh-CN" sz="2400" dirty="0"/>
          </a:p>
          <a:p>
            <a:r>
              <a:rPr lang="zh-CN" altLang="en-US" sz="2400" dirty="0"/>
              <a:t>高滴度：</a:t>
            </a:r>
            <a:r>
              <a:rPr lang="en-US" altLang="zh-CN" sz="2400" dirty="0"/>
              <a:t>&gt;=1:100</a:t>
            </a:r>
          </a:p>
          <a:p>
            <a:r>
              <a:rPr lang="zh-CN" altLang="en-US" sz="2400" dirty="0"/>
              <a:t>低滴度：</a:t>
            </a:r>
            <a:r>
              <a:rPr lang="en-US" altLang="zh-CN" sz="2400" dirty="0"/>
              <a:t>&lt;1</a:t>
            </a:r>
            <a:r>
              <a:rPr lang="zh-CN" altLang="en-US" sz="2400" dirty="0"/>
              <a:t>：</a:t>
            </a:r>
            <a:r>
              <a:rPr lang="en-US" altLang="zh-CN" sz="2400" dirty="0"/>
              <a:t>100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214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4193D-9975-D32F-2301-03130A64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365125"/>
            <a:ext cx="10515600" cy="1325563"/>
          </a:xfrm>
        </p:spPr>
        <p:txBody>
          <a:bodyPr/>
          <a:lstStyle/>
          <a:p>
            <a:r>
              <a:rPr lang="en-US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抗</a:t>
            </a:r>
            <a:r>
              <a:rPr lang="en-US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NMDA</a:t>
            </a:r>
            <a:r>
              <a:rPr lang="zh-CN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受体脑炎首发严重性与环境污染程度的相关性</a:t>
            </a:r>
            <a:b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DC12D-8B79-B1C0-569C-FFA68E02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2" y="1139825"/>
            <a:ext cx="11970327" cy="4093219"/>
          </a:xfrm>
        </p:spPr>
        <p:txBody>
          <a:bodyPr/>
          <a:lstStyle/>
          <a:p>
            <a:pPr marL="228600" algn="just">
              <a:buNone/>
            </a:pP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患者首发</a:t>
            </a: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mRS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评分与环境污染水平的相关性（按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0-6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分分析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；对</a:t>
            </a: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mRS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分值进行分层，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1-3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为轻症，</a:t>
            </a: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4-5</a:t>
            </a:r>
            <a:r>
              <a:rPr lang="zh-CN" altLang="en-US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为重症，入院一般无</a:t>
            </a: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分或</a:t>
            </a: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患者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ICU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转入情况与环境污染水平的相关性（是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否）</a:t>
            </a:r>
            <a:endParaRPr lang="en-US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）抗体滴度与患病严重性的相关分析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4971D1-6D97-ADD9-EF5F-2AE7DD259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7" y="2399656"/>
            <a:ext cx="5593842" cy="40932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3EC7A6D-AC3F-6F33-249F-096456E0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164" y="2638570"/>
            <a:ext cx="6353778" cy="345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796A1-5801-A7E1-E90D-AEAE8D2A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66" y="23350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环境污染物对发病的联合作用</a:t>
            </a:r>
            <a:br>
              <a:rPr lang="zh-CN" altLang="zh-CN" sz="3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0B5163B-2723-3AD1-4777-F1DF1341C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66" y="1184997"/>
            <a:ext cx="7916679" cy="31130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56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F35F8-66B3-0F2C-CB6F-5D5E2541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4" y="2057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zh-CN" sz="32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亚组分析</a:t>
            </a:r>
            <a:br>
              <a:rPr lang="zh-CN" altLang="zh-CN" sz="3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ACC133-9B4E-D217-0AE2-DB677638EF31}"/>
              </a:ext>
            </a:extLst>
          </p:cNvPr>
          <p:cNvSpPr txBox="1"/>
          <p:nvPr/>
        </p:nvSpPr>
        <p:spPr>
          <a:xfrm>
            <a:off x="367146" y="1057430"/>
            <a:ext cx="33943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分组：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）性别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）年龄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）冷</a:t>
            </a:r>
            <a:r>
              <a:rPr lang="en-US" altLang="zh-CN" sz="2000" dirty="0"/>
              <a:t>/</a:t>
            </a:r>
            <a:r>
              <a:rPr lang="zh-CN" altLang="en-US" sz="2000" dirty="0"/>
              <a:t>热季节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）吸烟史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）合并其他抗体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）前驱症状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环境污染物对各亚组人群的发病影响有何区别</a:t>
            </a:r>
            <a:endParaRPr lang="en-US" altLang="zh-CN" sz="2000" dirty="0"/>
          </a:p>
        </p:txBody>
      </p:sp>
      <p:pic>
        <p:nvPicPr>
          <p:cNvPr id="7" name="内容占位符 4">
            <a:extLst>
              <a:ext uri="{FF2B5EF4-FFF2-40B4-BE49-F238E27FC236}">
                <a16:creationId xmlns:a16="http://schemas.microsoft.com/office/drawing/2014/main" id="{61A330C6-D415-C51C-70B0-D4274346E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61218"/>
            <a:ext cx="8139545" cy="6535564"/>
          </a:xfrm>
        </p:spPr>
      </p:pic>
    </p:spTree>
    <p:extLst>
      <p:ext uri="{BB962C8B-B14F-4D97-AF65-F5344CB8AC3E}">
        <p14:creationId xmlns:p14="http://schemas.microsoft.com/office/powerpoint/2010/main" val="1106950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17506-AD3D-BD2D-EA11-16389632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1" y="4029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6.</a:t>
            </a:r>
            <a:r>
              <a:rPr lang="zh-CN" altLang="en-US" sz="3200" b="1" dirty="0"/>
              <a:t>敏感性分析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AF6A706-61BB-4053-B6EE-2CF9369AB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706" y="103909"/>
            <a:ext cx="7439040" cy="6713801"/>
          </a:xfrm>
        </p:spPr>
      </p:pic>
    </p:spTree>
    <p:extLst>
      <p:ext uri="{BB962C8B-B14F-4D97-AF65-F5344CB8AC3E}">
        <p14:creationId xmlns:p14="http://schemas.microsoft.com/office/powerpoint/2010/main" val="202733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C2DD9-466D-0090-BAA9-28552DC1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4" y="143453"/>
            <a:ext cx="11859491" cy="1325563"/>
          </a:xfrm>
        </p:spPr>
        <p:txBody>
          <a:bodyPr/>
          <a:lstStyle/>
          <a:p>
            <a:r>
              <a:rPr lang="zh-CN" altLang="en-US" sz="4400" b="1" u="sng" dirty="0"/>
              <a:t>抗</a:t>
            </a:r>
            <a:r>
              <a:rPr lang="en-US" altLang="zh-CN" sz="4400" b="1" u="sng" dirty="0"/>
              <a:t>NMDA</a:t>
            </a:r>
            <a:r>
              <a:rPr lang="zh-CN" altLang="en-US" sz="4400" b="1" u="sng" dirty="0"/>
              <a:t>受体脑炎发病与</a:t>
            </a:r>
            <a:r>
              <a:rPr lang="zh-CN" altLang="en-US" b="1" u="sng" dirty="0"/>
              <a:t>地理环境因素</a:t>
            </a:r>
            <a:r>
              <a:rPr lang="zh-CN" altLang="en-US" sz="4400" b="1" u="sng" dirty="0"/>
              <a:t>的相关性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6DEA1-2293-441E-3C9C-BDD9A63E1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3" y="1559071"/>
            <a:ext cx="10515600" cy="4351338"/>
          </a:xfrm>
        </p:spPr>
        <p:txBody>
          <a:bodyPr/>
          <a:lstStyle/>
          <a:p>
            <a:r>
              <a:rPr lang="zh-CN" altLang="en-US" u="sng" dirty="0"/>
              <a:t>气温，风速，降水量，相对湿度，日照，土壤类型等</a:t>
            </a:r>
            <a:endParaRPr lang="en-US" altLang="zh-CN" u="sng" dirty="0"/>
          </a:p>
          <a:p>
            <a:endParaRPr lang="en-US" altLang="zh-CN" u="sng" dirty="0"/>
          </a:p>
          <a:p>
            <a:r>
              <a:rPr lang="en-US" altLang="zh-CN" dirty="0"/>
              <a:t>1.</a:t>
            </a:r>
            <a:r>
              <a:rPr lang="zh-CN" altLang="en-US" dirty="0"/>
              <a:t>概括性描述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发病与地理环境因素的相关性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zh-CN" dirty="0"/>
              <a:t>抗</a:t>
            </a:r>
            <a:r>
              <a:rPr lang="en-US" altLang="zh-CN" dirty="0"/>
              <a:t>NMDA</a:t>
            </a:r>
            <a:r>
              <a:rPr lang="zh-CN" altLang="zh-CN" dirty="0"/>
              <a:t>受体脑炎首发严重性与</a:t>
            </a:r>
            <a:r>
              <a:rPr lang="zh-CN" altLang="en-US" dirty="0"/>
              <a:t>地理</a:t>
            </a:r>
            <a:r>
              <a:rPr lang="zh-CN" altLang="zh-CN" dirty="0"/>
              <a:t>环境</a:t>
            </a:r>
            <a:r>
              <a:rPr lang="zh-CN" altLang="en-US" dirty="0"/>
              <a:t>因素</a:t>
            </a:r>
            <a:r>
              <a:rPr lang="zh-CN" altLang="zh-CN" dirty="0"/>
              <a:t>的相关性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地理</a:t>
            </a:r>
            <a:r>
              <a:rPr lang="zh-CN" altLang="zh-CN" dirty="0"/>
              <a:t>环境</a:t>
            </a:r>
            <a:r>
              <a:rPr lang="zh-CN" altLang="en-US" dirty="0"/>
              <a:t>因素</a:t>
            </a:r>
            <a:r>
              <a:rPr lang="zh-CN" altLang="zh-CN" dirty="0"/>
              <a:t>对发病的联合作用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zh-CN" dirty="0"/>
              <a:t>亚组分析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敏感性分析</a:t>
            </a:r>
          </a:p>
        </p:txBody>
      </p:sp>
    </p:spTree>
    <p:extLst>
      <p:ext uri="{BB962C8B-B14F-4D97-AF65-F5344CB8AC3E}">
        <p14:creationId xmlns:p14="http://schemas.microsoft.com/office/powerpoint/2010/main" val="226630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841</Words>
  <Application>Microsoft Macintosh PowerPoint</Application>
  <PresentationFormat>宽屏</PresentationFormat>
  <Paragraphs>372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环境与抗NMDA受体脑炎发病的相关性</vt:lpstr>
      <vt:lpstr>PART1 空气污染物水平与抗NMDA受体脑炎发病的关系</vt:lpstr>
      <vt:lpstr>抗NMDA受体脑炎发病与空气污染物的相关性</vt:lpstr>
      <vt:lpstr>1.概括性描述 </vt:lpstr>
      <vt:lpstr>PowerPoint 演示文稿</vt:lpstr>
      <vt:lpstr>PowerPoint 演示文稿</vt:lpstr>
      <vt:lpstr> 2.抗NMDA受体脑炎发病与环境污染物的相关性</vt:lpstr>
      <vt:lpstr>PowerPoint 演示文稿</vt:lpstr>
      <vt:lpstr>PowerPoint 演示文稿</vt:lpstr>
      <vt:lpstr>2.抗NMDA受体脑炎发病与环境污染物的相关性</vt:lpstr>
      <vt:lpstr>3.抗NMDA受体脑炎首发严重性与环境污染程度的相关性 </vt:lpstr>
      <vt:lpstr>4.环境污染物对发病的联合作用 </vt:lpstr>
      <vt:lpstr>5.亚组分析 </vt:lpstr>
      <vt:lpstr>6.敏感性分析</vt:lpstr>
      <vt:lpstr>抗NMDA受体脑炎发病与地理环境因素的相关性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 NO</dc:creator>
  <cp:lastModifiedBy>Lujie Ban (SDS,224040373)</cp:lastModifiedBy>
  <cp:revision>18</cp:revision>
  <dcterms:created xsi:type="dcterms:W3CDTF">2025-04-17T15:59:43Z</dcterms:created>
  <dcterms:modified xsi:type="dcterms:W3CDTF">2025-05-07T13:45:55Z</dcterms:modified>
</cp:coreProperties>
</file>